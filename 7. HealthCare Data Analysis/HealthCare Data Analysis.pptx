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4A0ACA-722A-4A87-8B78-1FC0B0D18A04}" type="datetimeFigureOut">
              <a:rPr lang="en-IN" smtClean="0"/>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2CCE8397-8198-489C-AD66-8DC2E670378F}"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84A0ACA-722A-4A87-8B78-1FC0B0D18A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CE8397-8198-489C-AD66-8DC2E670378F}"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84A0ACA-722A-4A87-8B78-1FC0B0D18A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CE8397-8198-489C-AD66-8DC2E670378F}"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84A0ACA-722A-4A87-8B78-1FC0B0D18A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CE8397-8198-489C-AD66-8DC2E670378F}"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84A0ACA-722A-4A87-8B78-1FC0B0D18A0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CE8397-8198-489C-AD66-8DC2E670378F}"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4A0ACA-722A-4A87-8B78-1FC0B0D18A0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CE8397-8198-489C-AD66-8DC2E670378F}"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4A0ACA-722A-4A87-8B78-1FC0B0D18A0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CE8397-8198-489C-AD66-8DC2E670378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84A0ACA-722A-4A87-8B78-1FC0B0D18A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CE8397-8198-489C-AD66-8DC2E670378F}"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84A0ACA-722A-4A87-8B78-1FC0B0D18A04}" type="datetimeFigureOut">
              <a:rPr lang="en-IN" smtClean="0"/>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2CCE8397-8198-489C-AD66-8DC2E670378F}"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84A0ACA-722A-4A87-8B78-1FC0B0D18A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CE8397-8198-489C-AD66-8DC2E670378F}"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84A0ACA-722A-4A87-8B78-1FC0B0D18A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CE8397-8198-489C-AD66-8DC2E670378F}"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2">
            <a:extLst>
              <a:ext uri="{28A0092B-C50C-407E-A947-70E740481C1C}">
                <a14:useLocalDpi xmlns:a14="http://schemas.microsoft.com/office/drawing/2010/main" val="0"/>
              </a:ext>
            </a:extLst>
          </a:blip>
          <a:srcRect t="1538" b="-1538"/>
          <a:stretch>
            <a:fillRect/>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84A0ACA-722A-4A87-8B78-1FC0B0D18A04}" type="datetimeFigureOut">
              <a:rPr lang="en-IN" smtClean="0"/>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CCE8397-8198-489C-AD66-8DC2E670378F}" type="slidenum">
              <a:rPr lang="en-IN" smtClean="0"/>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1" y="702734"/>
            <a:ext cx="9835652" cy="2640996"/>
          </a:xfrm>
        </p:spPr>
        <p:txBody>
          <a:bodyPr>
            <a:normAutofit/>
          </a:bodyPr>
          <a:lstStyle/>
          <a:p>
            <a:r>
              <a:rPr lang="en-US" sz="4800" dirty="0">
                <a:latin typeface="Calisto MT" panose="02040603050505030304" pitchFamily="18" charset="0"/>
                <a:cs typeface="Arial" panose="020B0604020202020204" pitchFamily="34" charset="0"/>
              </a:rPr>
              <a:t>Big Data Analytics Project: Healthcare Data Analysis</a:t>
            </a:r>
            <a:endParaRPr lang="en-IN" sz="4800" dirty="0">
              <a:latin typeface="Calisto MT" panose="02040603050505030304" pitchFamily="18" charset="0"/>
              <a:cs typeface="Arial" panose="020B0604020202020204" pitchFamily="34" charset="0"/>
            </a:endParaRPr>
          </a:p>
        </p:txBody>
      </p:sp>
      <p:sp>
        <p:nvSpPr>
          <p:cNvPr id="3" name="Subtitle 2"/>
          <p:cNvSpPr>
            <a:spLocks noGrp="1"/>
          </p:cNvSpPr>
          <p:nvPr>
            <p:ph type="subTitle" idx="1"/>
          </p:nvPr>
        </p:nvSpPr>
        <p:spPr>
          <a:xfrm>
            <a:off x="792940" y="3784600"/>
            <a:ext cx="10874127" cy="2032000"/>
          </a:xfrm>
        </p:spPr>
        <p:txBody>
          <a:bodyPr>
            <a:noAutofit/>
          </a:bodyPr>
          <a:lstStyle/>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Source:</a:t>
            </a:r>
            <a:r>
              <a:rPr lang="en-US" sz="2000" kern="0" cap="none" spc="-38" dirty="0">
                <a:solidFill>
                  <a:srgbClr val="000000"/>
                </a:solidFill>
                <a:latin typeface="Calibri" panose="020F0502020204030204" charset="0"/>
                <a:ea typeface="Graphik Semibold"/>
                <a:cs typeface="Calibri" panose="020F0502020204030204" charset="0"/>
                <a:sym typeface="Graphik Semibold"/>
              </a:rPr>
              <a:t> </a:t>
            </a:r>
            <a:r>
              <a:rPr lang="en-US" sz="2000" kern="0" cap="none" spc="-38" dirty="0">
                <a:solidFill>
                  <a:srgbClr val="000000"/>
                </a:solidFill>
                <a:latin typeface="Calibri" panose="020F0502020204030204" charset="0"/>
                <a:ea typeface="Avenir Next Regular"/>
                <a:cs typeface="Calibri" panose="020F0502020204030204" charset="0"/>
                <a:sym typeface="Avenir Next Regular"/>
              </a:rPr>
              <a:t>https://www.kaggle.com/datasets/blueblushed/hospital-dataset-for-practice </a:t>
            </a:r>
            <a:endParaRPr lang="en-US" sz="2000" kern="0" cap="none" spc="-38" dirty="0">
              <a:solidFill>
                <a:srgbClr val="000000"/>
              </a:solidFill>
              <a:latin typeface="Calibri" panose="020F0502020204030204" charset="0"/>
              <a:ea typeface="Avenir Next Regular"/>
              <a:cs typeface="Calibri" panose="020F0502020204030204" charset="0"/>
              <a:sym typeface="Avenir Next Regular"/>
            </a:endParaRPr>
          </a:p>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Dataset:</a:t>
            </a:r>
            <a:r>
              <a:rPr lang="en-US" sz="2000" kern="0" cap="none" spc="-38" dirty="0">
                <a:solidFill>
                  <a:srgbClr val="000000"/>
                </a:solidFill>
                <a:latin typeface="Calibri" panose="020F0502020204030204" charset="0"/>
                <a:ea typeface="Avenir Next Regular"/>
                <a:cs typeface="Calibri" panose="020F0502020204030204" charset="0"/>
                <a:sym typeface="Avenir Next Regular"/>
              </a:rPr>
              <a:t> hospital data analysis</a:t>
            </a:r>
            <a:endParaRPr lang="en-US" sz="2000" kern="0" cap="none" spc="-38" dirty="0">
              <a:solidFill>
                <a:srgbClr val="000000"/>
              </a:solidFill>
              <a:latin typeface="Calibri" panose="020F0502020204030204" charset="0"/>
              <a:ea typeface="Avenir Next Regular"/>
              <a:cs typeface="Calibri" panose="020F0502020204030204" charset="0"/>
              <a:sym typeface="Avenir Next Regular"/>
            </a:endParaRPr>
          </a:p>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Email:</a:t>
            </a:r>
            <a:r>
              <a:rPr lang="en-US" sz="2000" kern="0" cap="none" spc="-38" dirty="0">
                <a:solidFill>
                  <a:srgbClr val="000000"/>
                </a:solidFill>
                <a:latin typeface="Calibri" panose="020F0502020204030204" charset="0"/>
                <a:ea typeface="Avenir Next Regular"/>
                <a:cs typeface="Calibri" panose="020F0502020204030204" charset="0"/>
                <a:sym typeface="Avenir Next Regular"/>
              </a:rPr>
              <a:t> </a:t>
            </a:r>
            <a:r>
              <a:rPr lang="en-US" sz="2000" u="sng" kern="0" cap="none" spc="-38" dirty="0">
                <a:solidFill>
                  <a:srgbClr val="0070C0"/>
                </a:solidFill>
                <a:latin typeface="Calibri" panose="020F0502020204030204" charset="0"/>
                <a:ea typeface="Avenir Next Regular"/>
                <a:cs typeface="Calibri" panose="020F0502020204030204" charset="0"/>
                <a:sym typeface="Avenir Next Regular"/>
              </a:rPr>
              <a:t>ekthabandarupally</a:t>
            </a:r>
            <a:r>
              <a:rPr lang="en-IN" altLang="en-US" sz="2000" u="sng" kern="0" cap="none" spc="-38" dirty="0">
                <a:solidFill>
                  <a:srgbClr val="0070C0"/>
                </a:solidFill>
                <a:latin typeface="Calibri" panose="020F0502020204030204" charset="0"/>
                <a:ea typeface="Avenir Next Regular"/>
                <a:cs typeface="Calibri" panose="020F0502020204030204" charset="0"/>
                <a:sym typeface="Avenir Next Regular"/>
              </a:rPr>
              <a:t>@gmail.com</a:t>
            </a:r>
            <a:endParaRPr lang="en-US" sz="2000" u="sng" kern="0" cap="none" spc="-38" dirty="0">
              <a:solidFill>
                <a:srgbClr val="0070C0"/>
              </a:solidFill>
              <a:latin typeface="Calibri" panose="020F0502020204030204" charset="0"/>
              <a:ea typeface="Avenir Next Regular"/>
              <a:cs typeface="Calibri" panose="020F0502020204030204" charset="0"/>
              <a:sym typeface="Avenir Next Regular"/>
            </a:endParaRPr>
          </a:p>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Phone: </a:t>
            </a:r>
            <a:r>
              <a:rPr lang="en-US" sz="2000" kern="0" cap="none" spc="-38" dirty="0">
                <a:solidFill>
                  <a:srgbClr val="000000"/>
                </a:solidFill>
                <a:latin typeface="Calibri" panose="020F0502020204030204" charset="0"/>
                <a:ea typeface="Chalkboard"/>
                <a:cs typeface="Calibri" panose="020F0502020204030204" charset="0"/>
                <a:sym typeface="Avenir Next Regular"/>
              </a:rPr>
              <a:t>6305847946</a:t>
            </a:r>
            <a:endParaRPr lang="en-US" sz="2000" kern="0" cap="none" spc="-38" dirty="0">
              <a:solidFill>
                <a:srgbClr val="000000"/>
              </a:solidFill>
              <a:latin typeface="Calibri" panose="020F0502020204030204" charset="0"/>
              <a:ea typeface="Avenir Next Regular"/>
              <a:cs typeface="Calibri" panose="020F0502020204030204" charset="0"/>
              <a:sym typeface="Avenir Next Regular"/>
            </a:endParaRPr>
          </a:p>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GitHub:</a:t>
            </a:r>
            <a:r>
              <a:rPr lang="en-US" sz="2000" kern="0" cap="none" spc="-38" dirty="0">
                <a:solidFill>
                  <a:srgbClr val="000000"/>
                </a:solidFill>
                <a:latin typeface="Calibri" panose="020F0502020204030204" charset="0"/>
                <a:ea typeface="Avenir Next Regular"/>
                <a:cs typeface="Calibri" panose="020F0502020204030204" charset="0"/>
                <a:sym typeface="Avenir Next Regular"/>
              </a:rPr>
              <a:t> https://github.com/EkthaCharishma/BigDataAnalytics</a:t>
            </a:r>
            <a:endParaRPr lang="en-US" sz="2000" kern="0" cap="none" spc="-38" dirty="0">
              <a:solidFill>
                <a:srgbClr val="000000"/>
              </a:solidFill>
              <a:latin typeface="Calibri" panose="020F0502020204030204" charset="0"/>
              <a:ea typeface="Avenir Next Regular"/>
              <a:cs typeface="Calibri" panose="020F0502020204030204" charset="0"/>
              <a:sym typeface="Avenir Next Regular"/>
            </a:endParaRPr>
          </a:p>
          <a:p>
            <a:pPr lvl="0" defTabSz="825500">
              <a:lnSpc>
                <a:spcPct val="100000"/>
              </a:lnSpc>
              <a:spcBef>
                <a:spcPts val="0"/>
              </a:spcBef>
              <a:buClrTx/>
              <a:buSzTx/>
              <a:defRPr sz="3800" spc="-38">
                <a:latin typeface="Avenir Next Regular"/>
                <a:ea typeface="Avenir Next Regular"/>
                <a:cs typeface="Avenir Next Regular"/>
                <a:sym typeface="Avenir Next Regular"/>
              </a:defRPr>
            </a:pPr>
            <a:r>
              <a:rPr lang="en-US" sz="2000" b="1" kern="0" cap="none" spc="-38" dirty="0">
                <a:solidFill>
                  <a:srgbClr val="000000"/>
                </a:solidFill>
                <a:latin typeface="Calibri" panose="020F0502020204030204" charset="0"/>
                <a:ea typeface="Chalkboard"/>
                <a:cs typeface="Calibri" panose="020F0502020204030204" charset="0"/>
                <a:sym typeface="Chalkboard"/>
              </a:rPr>
              <a:t>LinkedIn:</a:t>
            </a:r>
            <a:r>
              <a:rPr lang="en-US" sz="2000" kern="0" cap="none" spc="-38" dirty="0">
                <a:solidFill>
                  <a:srgbClr val="000000"/>
                </a:solidFill>
                <a:latin typeface="Calibri" panose="020F0502020204030204" charset="0"/>
                <a:ea typeface="Avenir Next Regular"/>
                <a:cs typeface="Calibri" panose="020F0502020204030204" charset="0"/>
                <a:sym typeface="Avenir Next Regular"/>
              </a:rPr>
              <a:t> https://www.linkedin.com/in/ektha-charishma-bandarupally/</a:t>
            </a:r>
            <a:endParaRPr lang="en-IN" sz="2000" dirty="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57354"/>
            <a:ext cx="9603275" cy="587136"/>
          </a:xfrm>
        </p:spPr>
        <p:txBody>
          <a:bodyPr/>
          <a:lstStyle/>
          <a:p>
            <a:r>
              <a:rPr lang="en-US" b="1" dirty="0"/>
              <a:t>Introduction</a:t>
            </a:r>
            <a:endParaRPr lang="en-IN" dirty="0"/>
          </a:p>
        </p:txBody>
      </p:sp>
      <p:sp>
        <p:nvSpPr>
          <p:cNvPr id="3" name="Content Placeholder 2"/>
          <p:cNvSpPr>
            <a:spLocks noGrp="1"/>
          </p:cNvSpPr>
          <p:nvPr>
            <p:ph idx="1"/>
          </p:nvPr>
        </p:nvSpPr>
        <p:spPr/>
        <p:txBody>
          <a:bodyPr/>
          <a:lstStyle/>
          <a:p>
            <a:r>
              <a:rPr lang="en-US" dirty="0"/>
              <a:t>The goal of this project is to perform healthcare data analysis using big data techniques to identify patterns, trends, and insights that can improve patient care, optimize hospital operations, and assist in data-driven decision-making. The project leverages </a:t>
            </a:r>
            <a:r>
              <a:rPr lang="en-US" dirty="0" err="1"/>
              <a:t>PySpark</a:t>
            </a:r>
            <a:r>
              <a:rPr lang="en-US" dirty="0"/>
              <a:t> for scalable data processing and analytics to handle large datasets efficiently.</a:t>
            </a:r>
            <a:endParaRPr lang="en-US" dirty="0"/>
          </a:p>
          <a:p>
            <a:r>
              <a:rPr lang="en-US" dirty="0"/>
              <a:t>The analysis focuses on exploring hospital data to uncover key health indicators, patient admission trends, and treatment statistics. This information can be used to support hospital management decisions and enhance healthcare delivery.</a:t>
            </a:r>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08332"/>
            <a:ext cx="9603275" cy="485180"/>
          </a:xfrm>
        </p:spPr>
        <p:txBody>
          <a:bodyPr>
            <a:normAutofit fontScale="90000"/>
          </a:bodyPr>
          <a:lstStyle/>
          <a:p>
            <a:r>
              <a:rPr lang="en-US" b="1" dirty="0"/>
              <a:t>Dataset Description</a:t>
            </a:r>
            <a:br>
              <a:rPr lang="en-US" b="1" dirty="0"/>
            </a:br>
            <a:endParaRPr lang="en-IN" dirty="0"/>
          </a:p>
        </p:txBody>
      </p:sp>
      <p:sp>
        <p:nvSpPr>
          <p:cNvPr id="3" name="Content Placeholder 2"/>
          <p:cNvSpPr>
            <a:spLocks noGrp="1"/>
          </p:cNvSpPr>
          <p:nvPr>
            <p:ph idx="1"/>
          </p:nvPr>
        </p:nvSpPr>
        <p:spPr>
          <a:xfrm>
            <a:off x="1451578" y="2015731"/>
            <a:ext cx="9749821" cy="3995601"/>
          </a:xfrm>
        </p:spPr>
        <p:txBody>
          <a:bodyPr>
            <a:normAutofit fontScale="77500" lnSpcReduction="20000"/>
          </a:bodyPr>
          <a:lstStyle/>
          <a:p>
            <a:r>
              <a:rPr lang="en-US" b="1" dirty="0"/>
              <a:t>Dataset Name:</a:t>
            </a:r>
            <a:r>
              <a:rPr lang="en-US" dirty="0"/>
              <a:t> Hospital Data Analysis</a:t>
            </a:r>
            <a:endParaRPr lang="en-US" dirty="0"/>
          </a:p>
          <a:p>
            <a:r>
              <a:rPr lang="en-US" b="1" dirty="0"/>
              <a:t>File:</a:t>
            </a:r>
            <a:r>
              <a:rPr lang="en-US" dirty="0"/>
              <a:t> hospital data analysis.csv</a:t>
            </a:r>
            <a:endParaRPr lang="en-US" dirty="0"/>
          </a:p>
          <a:p>
            <a:r>
              <a:rPr lang="en-US" b="1" dirty="0"/>
              <a:t>Number of Records:</a:t>
            </a:r>
            <a:r>
              <a:rPr lang="en-US" dirty="0"/>
              <a:t> ~1000 (depending on your dataset)</a:t>
            </a:r>
            <a:endParaRPr lang="en-US" dirty="0"/>
          </a:p>
          <a:p>
            <a:r>
              <a:rPr lang="en-US" b="1" dirty="0"/>
              <a:t>Attributes (Columns):</a:t>
            </a:r>
            <a:endParaRPr lang="en-US" dirty="0"/>
          </a:p>
          <a:p>
            <a:pPr lvl="1"/>
            <a:r>
              <a:rPr lang="en-US" dirty="0" err="1"/>
              <a:t>Patient_ID</a:t>
            </a:r>
            <a:r>
              <a:rPr lang="en-US" dirty="0"/>
              <a:t> – Unique identifier for each patient</a:t>
            </a:r>
            <a:endParaRPr lang="en-US" dirty="0"/>
          </a:p>
          <a:p>
            <a:pPr lvl="1"/>
            <a:r>
              <a:rPr lang="en-US" dirty="0"/>
              <a:t>Age – Age of the patient</a:t>
            </a:r>
            <a:endParaRPr lang="en-US" dirty="0"/>
          </a:p>
          <a:p>
            <a:pPr lvl="1"/>
            <a:r>
              <a:rPr lang="en-US" dirty="0"/>
              <a:t>Gender – Gender of the patient (Male/Female)</a:t>
            </a:r>
            <a:endParaRPr lang="en-US" dirty="0"/>
          </a:p>
          <a:p>
            <a:pPr lvl="1"/>
            <a:r>
              <a:rPr lang="en-US" dirty="0" err="1"/>
              <a:t>Blood_Pressure</a:t>
            </a:r>
            <a:r>
              <a:rPr lang="en-US" dirty="0"/>
              <a:t> – Blood pressure levels</a:t>
            </a:r>
            <a:endParaRPr lang="en-US" dirty="0"/>
          </a:p>
          <a:p>
            <a:pPr lvl="1"/>
            <a:r>
              <a:rPr lang="en-US" dirty="0"/>
              <a:t>Cholesterol – Cholesterol levels</a:t>
            </a:r>
            <a:endParaRPr lang="en-US" dirty="0"/>
          </a:p>
          <a:p>
            <a:pPr lvl="1"/>
            <a:r>
              <a:rPr lang="en-US" dirty="0"/>
              <a:t>Diagnosis – Diagnosed disease or condition</a:t>
            </a:r>
            <a:endParaRPr lang="en-US" dirty="0"/>
          </a:p>
          <a:p>
            <a:pPr lvl="1"/>
            <a:r>
              <a:rPr lang="en-US" dirty="0" err="1"/>
              <a:t>Treatment_Cost</a:t>
            </a:r>
            <a:r>
              <a:rPr lang="en-US" dirty="0"/>
              <a:t> – Cost of the treatment</a:t>
            </a:r>
            <a:endParaRPr lang="en-US" dirty="0"/>
          </a:p>
          <a:p>
            <a:pPr lvl="1"/>
            <a:r>
              <a:rPr lang="en-US" dirty="0" err="1"/>
              <a:t>Length_of_Stay</a:t>
            </a:r>
            <a:r>
              <a:rPr lang="en-US" dirty="0"/>
              <a:t> – Number of days admitted</a:t>
            </a:r>
            <a:endParaRPr lang="en-US" dirty="0"/>
          </a:p>
          <a:p>
            <a:pPr lvl="1"/>
            <a:r>
              <a:rPr lang="en-US" dirty="0"/>
              <a:t>Outcome – Result of treatment (Recovered/Not Recovered/Deceased)</a:t>
            </a:r>
            <a:endParaRPr lang="en-US"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204098"/>
            <a:ext cx="9603275" cy="510580"/>
          </a:xfrm>
        </p:spPr>
        <p:txBody>
          <a:bodyPr>
            <a:normAutofit fontScale="90000"/>
          </a:bodyPr>
          <a:lstStyle/>
          <a:p>
            <a:r>
              <a:rPr lang="en-IN" b="1" dirty="0"/>
              <a:t>Tools and Technologies Used</a:t>
            </a:r>
            <a:br>
              <a:rPr lang="en-IN" b="1" dirty="0"/>
            </a:br>
            <a:endParaRPr lang="en-IN" dirty="0"/>
          </a:p>
        </p:txBody>
      </p:sp>
      <p:sp>
        <p:nvSpPr>
          <p:cNvPr id="3" name="Content Placeholder 2"/>
          <p:cNvSpPr>
            <a:spLocks noGrp="1"/>
          </p:cNvSpPr>
          <p:nvPr>
            <p:ph idx="1"/>
          </p:nvPr>
        </p:nvSpPr>
        <p:spPr/>
        <p:txBody>
          <a:bodyPr>
            <a:normAutofit lnSpcReduction="10000"/>
          </a:bodyPr>
          <a:lstStyle/>
          <a:p>
            <a:r>
              <a:rPr lang="en-IN" b="1" dirty="0"/>
              <a:t>Programming Language:</a:t>
            </a:r>
            <a:r>
              <a:rPr lang="en-IN" dirty="0"/>
              <a:t> Python</a:t>
            </a:r>
            <a:endParaRPr lang="en-IN" dirty="0"/>
          </a:p>
          <a:p>
            <a:r>
              <a:rPr lang="en-IN" b="1" dirty="0"/>
              <a:t>Big Data Framework:</a:t>
            </a:r>
            <a:r>
              <a:rPr lang="en-IN" dirty="0"/>
              <a:t> Apache Spark (</a:t>
            </a:r>
            <a:r>
              <a:rPr lang="en-IN" dirty="0" err="1"/>
              <a:t>PySpark</a:t>
            </a:r>
            <a:r>
              <a:rPr lang="en-IN" dirty="0"/>
              <a:t>)</a:t>
            </a:r>
            <a:endParaRPr lang="en-IN" dirty="0"/>
          </a:p>
          <a:p>
            <a:r>
              <a:rPr lang="en-IN" b="1" dirty="0"/>
              <a:t>IDE / Environment:</a:t>
            </a:r>
            <a:r>
              <a:rPr lang="en-IN" dirty="0"/>
              <a:t> </a:t>
            </a:r>
            <a:r>
              <a:rPr lang="en-IN" dirty="0" err="1"/>
              <a:t>Jupyter</a:t>
            </a:r>
            <a:r>
              <a:rPr lang="en-IN" dirty="0"/>
              <a:t> Notebook</a:t>
            </a:r>
            <a:endParaRPr lang="en-IN" dirty="0"/>
          </a:p>
          <a:p>
            <a:r>
              <a:rPr lang="en-IN" b="1" dirty="0"/>
              <a:t>Libraries Used:</a:t>
            </a:r>
            <a:endParaRPr lang="en-IN" dirty="0"/>
          </a:p>
          <a:p>
            <a:pPr lvl="1"/>
            <a:r>
              <a:rPr lang="en-IN" dirty="0" err="1"/>
              <a:t>pyspark.sql</a:t>
            </a:r>
            <a:r>
              <a:rPr lang="en-IN" dirty="0"/>
              <a:t> – For data loading and transformation</a:t>
            </a:r>
            <a:endParaRPr lang="en-IN" dirty="0"/>
          </a:p>
          <a:p>
            <a:pPr lvl="1"/>
            <a:r>
              <a:rPr lang="en-IN" dirty="0"/>
              <a:t>pyspark.ml – For machine learning operations (if used)</a:t>
            </a:r>
            <a:endParaRPr lang="en-IN" dirty="0"/>
          </a:p>
          <a:p>
            <a:pPr lvl="1"/>
            <a:r>
              <a:rPr lang="en-IN" dirty="0"/>
              <a:t>matplotlib &amp; seaborn – For data visualization</a:t>
            </a:r>
            <a:endParaRPr lang="en-IN" dirty="0"/>
          </a:p>
          <a:p>
            <a:pPr lvl="1"/>
            <a:r>
              <a:rPr lang="en-IN" dirty="0"/>
              <a:t>pandas – For exploratory data manipulation</a:t>
            </a:r>
            <a:endParaRPr lang="en-IN"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36319"/>
            <a:ext cx="9603275" cy="440081"/>
          </a:xfrm>
        </p:spPr>
        <p:txBody>
          <a:bodyPr>
            <a:normAutofit fontScale="90000"/>
          </a:bodyPr>
          <a:lstStyle/>
          <a:p>
            <a:r>
              <a:rPr lang="en-US" b="1" dirty="0"/>
              <a:t>Data Exploration and Operations</a:t>
            </a:r>
            <a:br>
              <a:rPr lang="en-US" b="1" dirty="0"/>
            </a:br>
            <a:endParaRPr lang="en-IN" dirty="0"/>
          </a:p>
        </p:txBody>
      </p:sp>
      <p:sp>
        <p:nvSpPr>
          <p:cNvPr id="3" name="Content Placeholder 2"/>
          <p:cNvSpPr>
            <a:spLocks noGrp="1"/>
          </p:cNvSpPr>
          <p:nvPr>
            <p:ph idx="1"/>
          </p:nvPr>
        </p:nvSpPr>
        <p:spPr/>
        <p:txBody>
          <a:bodyPr>
            <a:normAutofit fontScale="85000" lnSpcReduction="10000"/>
          </a:bodyPr>
          <a:lstStyle/>
          <a:p>
            <a:r>
              <a:rPr lang="en-US" dirty="0"/>
              <a:t>During data exploration:</a:t>
            </a:r>
            <a:endParaRPr lang="en-US" dirty="0"/>
          </a:p>
          <a:p>
            <a:r>
              <a:rPr lang="en-US" dirty="0"/>
              <a:t>Loaded the CSV dataset using </a:t>
            </a:r>
            <a:r>
              <a:rPr lang="en-US" dirty="0" err="1"/>
              <a:t>PySpark</a:t>
            </a:r>
            <a:r>
              <a:rPr lang="en-US" dirty="0"/>
              <a:t> </a:t>
            </a:r>
            <a:r>
              <a:rPr lang="en-US" dirty="0" err="1"/>
              <a:t>DataFrame</a:t>
            </a:r>
            <a:r>
              <a:rPr lang="en-US" dirty="0"/>
              <a:t> API.</a:t>
            </a:r>
            <a:endParaRPr lang="en-US" dirty="0"/>
          </a:p>
          <a:p>
            <a:r>
              <a:rPr lang="en-US" dirty="0"/>
              <a:t>Checked for missing values, data types, and duplicates.</a:t>
            </a:r>
            <a:endParaRPr lang="en-US" dirty="0"/>
          </a:p>
          <a:p>
            <a:r>
              <a:rPr lang="en-US" dirty="0"/>
              <a:t>Performed summary statistics (describe()) to understand distributions.</a:t>
            </a:r>
            <a:endParaRPr lang="en-US" dirty="0"/>
          </a:p>
          <a:p>
            <a:r>
              <a:rPr lang="en-US" dirty="0"/>
              <a:t>Conducted data cleaning such as handling nulls, renaming columns, and removing invalid values.</a:t>
            </a:r>
            <a:endParaRPr lang="en-US" dirty="0"/>
          </a:p>
          <a:p>
            <a:r>
              <a:rPr lang="en-US" dirty="0"/>
              <a:t>Applied transformations:</a:t>
            </a:r>
            <a:endParaRPr lang="en-US" dirty="0"/>
          </a:p>
          <a:p>
            <a:pPr lvl="1"/>
            <a:r>
              <a:rPr lang="en-US" dirty="0"/>
              <a:t>Derived new columns like </a:t>
            </a:r>
            <a:r>
              <a:rPr lang="en-US" i="1" dirty="0"/>
              <a:t>BMI Category</a:t>
            </a:r>
            <a:r>
              <a:rPr lang="en-US" dirty="0"/>
              <a:t>, </a:t>
            </a:r>
            <a:r>
              <a:rPr lang="en-US" i="1" dirty="0"/>
              <a:t>Risk Level</a:t>
            </a:r>
            <a:r>
              <a:rPr lang="en-US" dirty="0"/>
              <a:t>, etc.</a:t>
            </a:r>
            <a:endParaRPr lang="en-US" dirty="0"/>
          </a:p>
          <a:p>
            <a:pPr lvl="1"/>
            <a:r>
              <a:rPr lang="en-US" dirty="0"/>
              <a:t>Grouped data by Diagnosis and Outcome to find disease recovery rates.</a:t>
            </a:r>
            <a:endParaRPr lang="en-US" dirty="0"/>
          </a:p>
          <a:p>
            <a:pPr lvl="1"/>
            <a:r>
              <a:rPr lang="en-US" dirty="0"/>
              <a:t>Aggregated average </a:t>
            </a:r>
            <a:r>
              <a:rPr lang="en-US" dirty="0" err="1"/>
              <a:t>Treatment_Cost</a:t>
            </a:r>
            <a:r>
              <a:rPr lang="en-US" dirty="0"/>
              <a:t> and </a:t>
            </a:r>
            <a:r>
              <a:rPr lang="en-US" dirty="0" err="1"/>
              <a:t>Length_of_Stay</a:t>
            </a:r>
            <a:r>
              <a:rPr lang="en-US" dirty="0"/>
              <a:t> per disease type.</a:t>
            </a:r>
            <a:endParaRPr lang="en-US"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37748"/>
            <a:ext cx="9603275" cy="507814"/>
          </a:xfrm>
        </p:spPr>
        <p:txBody>
          <a:bodyPr>
            <a:normAutofit fontScale="90000"/>
          </a:bodyPr>
          <a:lstStyle/>
          <a:p>
            <a:r>
              <a:rPr lang="en-US" b="1" dirty="0"/>
              <a:t>Methodology / Workflow</a:t>
            </a:r>
            <a:br>
              <a:rPr lang="en-US" b="1" dirty="0"/>
            </a:br>
            <a:endParaRPr lang="en-IN" dirty="0"/>
          </a:p>
        </p:txBody>
      </p:sp>
      <p:sp>
        <p:nvSpPr>
          <p:cNvPr id="3" name="Content Placeholder 2"/>
          <p:cNvSpPr>
            <a:spLocks noGrp="1"/>
          </p:cNvSpPr>
          <p:nvPr>
            <p:ph idx="1"/>
          </p:nvPr>
        </p:nvSpPr>
        <p:spPr>
          <a:xfrm>
            <a:off x="1451610" y="1938655"/>
            <a:ext cx="10586720" cy="4519295"/>
          </a:xfrm>
        </p:spPr>
        <p:txBody>
          <a:bodyPr>
            <a:normAutofit fontScale="50000" lnSpcReduction="20000"/>
          </a:bodyPr>
          <a:lstStyle/>
          <a:p>
            <a:pPr marL="0" indent="0">
              <a:buNone/>
            </a:pPr>
            <a:r>
              <a:rPr lang="en-US" sz="2800" b="1" dirty="0"/>
              <a:t>Step 1: Data Ingestion</a:t>
            </a:r>
            <a:endParaRPr lang="en-US" sz="2800" dirty="0"/>
          </a:p>
          <a:p>
            <a:pPr lvl="1"/>
            <a:r>
              <a:rPr lang="en-US" sz="2600" dirty="0"/>
              <a:t>Imported dataset into </a:t>
            </a:r>
            <a:r>
              <a:rPr lang="en-US" sz="2600" dirty="0" err="1"/>
              <a:t>PySpark</a:t>
            </a:r>
            <a:r>
              <a:rPr lang="en-US" sz="2600" dirty="0"/>
              <a:t> </a:t>
            </a:r>
            <a:r>
              <a:rPr lang="en-US" sz="2600" dirty="0" err="1"/>
              <a:t>DataFrame</a:t>
            </a:r>
            <a:r>
              <a:rPr lang="en-US" sz="2600" dirty="0"/>
              <a:t> from CSV file.</a:t>
            </a:r>
            <a:endParaRPr lang="en-US" sz="2600" dirty="0"/>
          </a:p>
          <a:p>
            <a:pPr marL="0" indent="0">
              <a:buNone/>
            </a:pPr>
            <a:r>
              <a:rPr lang="en-US" sz="2800" b="1" dirty="0"/>
              <a:t>Step 2: Data Cleaning</a:t>
            </a:r>
            <a:endParaRPr lang="en-US" sz="2800" dirty="0"/>
          </a:p>
          <a:p>
            <a:pPr lvl="1"/>
            <a:r>
              <a:rPr lang="en-US" sz="2600" dirty="0"/>
              <a:t>Replaced missing values, standardized column names, and converted data types.</a:t>
            </a:r>
            <a:endParaRPr lang="en-US" sz="2600" dirty="0"/>
          </a:p>
          <a:p>
            <a:pPr marL="0" indent="0">
              <a:buNone/>
            </a:pPr>
            <a:r>
              <a:rPr lang="en-US" sz="2800" b="1" dirty="0"/>
              <a:t>Step 3: Data Transformation</a:t>
            </a:r>
            <a:endParaRPr lang="en-US" sz="2800" dirty="0"/>
          </a:p>
          <a:p>
            <a:pPr lvl="1"/>
            <a:r>
              <a:rPr lang="en-US" sz="2600" dirty="0"/>
              <a:t>Applied </a:t>
            </a:r>
            <a:r>
              <a:rPr lang="en-US" sz="2600" dirty="0" err="1"/>
              <a:t>PySpark</a:t>
            </a:r>
            <a:r>
              <a:rPr lang="en-US" sz="2600" dirty="0"/>
              <a:t> functions for grouping, filtering, and aggregations.</a:t>
            </a:r>
            <a:endParaRPr lang="en-US" sz="2600" dirty="0"/>
          </a:p>
          <a:p>
            <a:pPr lvl="1"/>
            <a:r>
              <a:rPr lang="en-US" sz="2600" dirty="0"/>
              <a:t>Created new columns (e.g., cost per day = </a:t>
            </a:r>
            <a:r>
              <a:rPr lang="en-US" sz="2600" dirty="0" err="1"/>
              <a:t>Treatment_Cost</a:t>
            </a:r>
            <a:r>
              <a:rPr lang="en-US" sz="2600" dirty="0"/>
              <a:t> / </a:t>
            </a:r>
            <a:r>
              <a:rPr lang="en-US" sz="2600" dirty="0" err="1"/>
              <a:t>Length_of_Stay</a:t>
            </a:r>
            <a:r>
              <a:rPr lang="en-US" sz="2600" dirty="0"/>
              <a:t>).</a:t>
            </a:r>
            <a:endParaRPr lang="en-US" sz="2600" dirty="0"/>
          </a:p>
          <a:p>
            <a:pPr marL="0" indent="0">
              <a:buNone/>
            </a:pPr>
            <a:r>
              <a:rPr lang="en-US" sz="2800" b="1" dirty="0"/>
              <a:t>Step 4: Data Analysis</a:t>
            </a:r>
            <a:endParaRPr lang="en-US" sz="2800" dirty="0"/>
          </a:p>
          <a:p>
            <a:r>
              <a:rPr lang="en-US" sz="2800" dirty="0"/>
              <a:t>Used SQL-like queries to extract insights, such as:</a:t>
            </a:r>
            <a:endParaRPr lang="en-US" sz="2800" dirty="0"/>
          </a:p>
          <a:p>
            <a:pPr lvl="1"/>
            <a:r>
              <a:rPr lang="en-US" sz="2800" dirty="0"/>
              <a:t>Most common diseases.</a:t>
            </a:r>
            <a:endParaRPr lang="en-US" sz="2800" dirty="0"/>
          </a:p>
          <a:p>
            <a:pPr lvl="1"/>
            <a:r>
              <a:rPr lang="en-US" sz="2800" dirty="0"/>
              <a:t>Average hospital stay duration.</a:t>
            </a:r>
            <a:endParaRPr lang="en-US" sz="2800" dirty="0"/>
          </a:p>
          <a:p>
            <a:pPr lvl="1"/>
            <a:r>
              <a:rPr lang="en-US" sz="2800" dirty="0"/>
              <a:t>Correlation between treatment cost and outcome.</a:t>
            </a:r>
            <a:endParaRPr lang="en-US" sz="2800" dirty="0"/>
          </a:p>
          <a:p>
            <a:pPr marL="0" indent="0">
              <a:buNone/>
            </a:pPr>
            <a:r>
              <a:rPr lang="en-US" sz="2800" b="1" dirty="0"/>
              <a:t>Step 5: Visualization</a:t>
            </a:r>
            <a:endParaRPr lang="en-US" sz="2800" dirty="0"/>
          </a:p>
          <a:p>
            <a:r>
              <a:rPr lang="en-US" sz="2800" dirty="0"/>
              <a:t>Visualized the results using matplotlib and seaborn:</a:t>
            </a:r>
            <a:endParaRPr lang="en-US" sz="2800" dirty="0"/>
          </a:p>
          <a:p>
            <a:pPr lvl="1"/>
            <a:r>
              <a:rPr lang="en-US" sz="2800" dirty="0"/>
              <a:t>Bar charts for disease frequency.</a:t>
            </a:r>
            <a:endParaRPr lang="en-US" sz="2800"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19386"/>
            <a:ext cx="9603275" cy="473948"/>
          </a:xfrm>
        </p:spPr>
        <p:txBody>
          <a:bodyPr>
            <a:normAutofit fontScale="90000"/>
          </a:bodyPr>
          <a:lstStyle/>
          <a:p>
            <a:r>
              <a:rPr lang="en-US" b="1" dirty="0"/>
              <a:t>Key Findings</a:t>
            </a:r>
            <a:br>
              <a:rPr lang="en-US" b="1" dirty="0"/>
            </a:br>
            <a:endParaRPr lang="en-IN" dirty="0"/>
          </a:p>
        </p:txBody>
      </p:sp>
      <p:sp>
        <p:nvSpPr>
          <p:cNvPr id="3" name="Content Placeholder 2"/>
          <p:cNvSpPr>
            <a:spLocks noGrp="1"/>
          </p:cNvSpPr>
          <p:nvPr>
            <p:ph idx="1"/>
          </p:nvPr>
        </p:nvSpPr>
        <p:spPr/>
        <p:txBody>
          <a:bodyPr/>
          <a:lstStyle/>
          <a:p>
            <a:r>
              <a:rPr lang="en-US" b="1" dirty="0"/>
              <a:t>Common Diseases:</a:t>
            </a:r>
            <a:r>
              <a:rPr lang="en-US" dirty="0"/>
              <a:t> Certain diseases had significantly higher admission rates.</a:t>
            </a:r>
            <a:endParaRPr lang="en-US" dirty="0"/>
          </a:p>
          <a:p>
            <a:r>
              <a:rPr lang="en-US" b="1" dirty="0"/>
              <a:t>Cost Insights:</a:t>
            </a:r>
            <a:r>
              <a:rPr lang="en-US" dirty="0"/>
              <a:t> Treatments for chronic diseases had higher average costs.</a:t>
            </a:r>
            <a:endParaRPr lang="en-US" dirty="0"/>
          </a:p>
          <a:p>
            <a:r>
              <a:rPr lang="en-US" b="1" dirty="0"/>
              <a:t>Outcome Patterns:</a:t>
            </a:r>
            <a:r>
              <a:rPr lang="en-US" dirty="0"/>
              <a:t> Patients with shorter hospital stays showed better recovery rates.</a:t>
            </a:r>
            <a:endParaRPr lang="en-US" dirty="0"/>
          </a:p>
          <a:p>
            <a:r>
              <a:rPr lang="en-US" b="1" dirty="0"/>
              <a:t>Correlation:</a:t>
            </a:r>
            <a:r>
              <a:rPr lang="en-US" dirty="0"/>
              <a:t> Strong correlation between length of stay and total cost.</a:t>
            </a:r>
            <a:endParaRPr lang="en-US"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60429"/>
            <a:ext cx="9603275" cy="462452"/>
          </a:xfrm>
        </p:spPr>
        <p:txBody>
          <a:bodyPr>
            <a:normAutofit fontScale="90000"/>
          </a:bodyPr>
          <a:lstStyle/>
          <a:p>
            <a:r>
              <a:rPr lang="en-US" b="1" dirty="0"/>
              <a:t>Recommendations</a:t>
            </a:r>
            <a:br>
              <a:rPr lang="en-US" b="1" dirty="0"/>
            </a:br>
            <a:endParaRPr lang="en-IN" dirty="0"/>
          </a:p>
        </p:txBody>
      </p:sp>
      <p:sp>
        <p:nvSpPr>
          <p:cNvPr id="3" name="Content Placeholder 2"/>
          <p:cNvSpPr>
            <a:spLocks noGrp="1"/>
          </p:cNvSpPr>
          <p:nvPr>
            <p:ph idx="1"/>
          </p:nvPr>
        </p:nvSpPr>
        <p:spPr/>
        <p:txBody>
          <a:bodyPr/>
          <a:lstStyle/>
          <a:p>
            <a:r>
              <a:rPr lang="en-US" dirty="0"/>
              <a:t>Hospitals should monitor high-cost treatments and explore cost-optimization strategies.</a:t>
            </a:r>
            <a:endParaRPr lang="en-US" dirty="0"/>
          </a:p>
          <a:p>
            <a:r>
              <a:rPr lang="en-US" dirty="0"/>
              <a:t>Preventive care programs can target the most common age groups and diseases.</a:t>
            </a:r>
            <a:endParaRPr lang="en-US" dirty="0"/>
          </a:p>
          <a:p>
            <a:r>
              <a:rPr lang="en-US" dirty="0"/>
              <a:t>Data-driven predictions can help identify patients at higher risk of long stays.</a:t>
            </a:r>
            <a:endParaRPr lang="en-US" dirty="0"/>
          </a:p>
          <a:p>
            <a:r>
              <a:rPr lang="en-US" dirty="0"/>
              <a:t>Integration with real-time monitoring can enable early intervention for high-risk patients.</a:t>
            </a:r>
            <a:endParaRPr lang="en-US" dirty="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36320"/>
            <a:ext cx="9603275" cy="457014"/>
          </a:xfrm>
        </p:spPr>
        <p:txBody>
          <a:bodyPr>
            <a:normAutofit fontScale="90000"/>
          </a:bodyPr>
          <a:lstStyle/>
          <a:p>
            <a:r>
              <a:rPr lang="en-US" b="1" dirty="0"/>
              <a:t>Conclusion</a:t>
            </a:r>
            <a:br>
              <a:rPr lang="en-US" b="1" dirty="0"/>
            </a:br>
            <a:endParaRPr lang="en-IN" dirty="0"/>
          </a:p>
        </p:txBody>
      </p:sp>
      <p:sp>
        <p:nvSpPr>
          <p:cNvPr id="3" name="Content Placeholder 2"/>
          <p:cNvSpPr>
            <a:spLocks noGrp="1"/>
          </p:cNvSpPr>
          <p:nvPr>
            <p:ph idx="1"/>
          </p:nvPr>
        </p:nvSpPr>
        <p:spPr/>
        <p:txBody>
          <a:bodyPr>
            <a:normAutofit/>
          </a:bodyPr>
          <a:lstStyle/>
          <a:p>
            <a:r>
              <a:rPr lang="en-US" dirty="0"/>
              <a:t>This big data analytics project demonstrated how </a:t>
            </a:r>
            <a:r>
              <a:rPr lang="en-US" dirty="0" err="1"/>
              <a:t>PySpark</a:t>
            </a:r>
            <a:r>
              <a:rPr lang="en-US" dirty="0"/>
              <a:t> can process and analyze large-scale healthcare data efficiently. Through data exploration, visualization, and pattern discovery, the analysis provided actionable insights to improve hospital efficiency, reduce costs, and enhance patient outcomes.</a:t>
            </a:r>
            <a:endParaRPr lang="en-US" dirty="0"/>
          </a:p>
          <a:p>
            <a:endParaRPr lang="en-IN"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0</TotalTime>
  <Words>3970</Words>
  <Application>WPS Presentation</Application>
  <PresentationFormat>Widescreen</PresentationFormat>
  <Paragraphs>97</Paragraphs>
  <Slides>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Calisto MT</vt:lpstr>
      <vt:lpstr>Avenir Next Regular</vt:lpstr>
      <vt:lpstr>Segoe Print</vt:lpstr>
      <vt:lpstr>Calibri</vt:lpstr>
      <vt:lpstr>Chalkboard</vt:lpstr>
      <vt:lpstr>Graphik Semibold</vt:lpstr>
      <vt:lpstr>Microsoft YaHei</vt:lpstr>
      <vt:lpstr>Arial Unicode MS</vt:lpstr>
      <vt:lpstr>Gill Sans MT</vt:lpstr>
      <vt:lpstr>Gallery</vt:lpstr>
      <vt:lpstr>Big Data Analytics Project: Healthcare Data Analysis</vt:lpstr>
      <vt:lpstr>Introduction</vt:lpstr>
      <vt:lpstr>Dataset Description </vt:lpstr>
      <vt:lpstr>Tools and Technologies Used </vt:lpstr>
      <vt:lpstr>Data Exploration and Operations </vt:lpstr>
      <vt:lpstr>Methodology / Workflow </vt:lpstr>
      <vt:lpstr>Key Findings </vt:lpstr>
      <vt:lpstr>Recommendations </vt:lpstr>
      <vt:lpstr>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 Ektha</dc:creator>
  <cp:lastModifiedBy>Ektha Charishma Bandarupally</cp:lastModifiedBy>
  <cp:revision>27</cp:revision>
  <dcterms:created xsi:type="dcterms:W3CDTF">2025-10-07T14:53:00Z</dcterms:created>
  <dcterms:modified xsi:type="dcterms:W3CDTF">2025-10-07T17:20:53Z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FFED4E7AEFAA4EFFB5D9AFD0B6887EE0_12</vt:lpwstr>
  </property>
  <property fmtid="{D5CDD505-2E9C-101B-9397-08002B2CF9AE}" pid="3" name="KSOProductBuildVer">
    <vt:lpwstr>1033-12.2.0.22549</vt:lpwstr>
  </property>
</Properties>
</file>